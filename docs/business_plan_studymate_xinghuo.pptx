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48eb6cb531f847ee" Type="http://schemas.openxmlformats.org/package/2006/relationships/metadata/core-properties" Target="docProps/core.xml"/><Relationship Id="R719b1e45148f4aff" Type="http://schemas.openxmlformats.org/officeDocument/2006/relationships/extended-properties" Target="docProps/app.xml"/><Relationship Id="R77e59908e7054d7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334192544374323"/>
  </p:sldMasterIdLst>
  <p:notesMasterIdLst>
    <p:notesMasterId xmlns:r="http://schemas.openxmlformats.org/officeDocument/2006/relationships" r:id="R9d4968041f3d4559"/>
  </p:notesMasterIdLst>
  <p:sldIdLst>
    <p:sldId xmlns:r="http://schemas.openxmlformats.org/officeDocument/2006/relationships" id="256" r:id="R5b64c8b692ae4aa6"/>
    <p:sldId xmlns:r="http://schemas.openxmlformats.org/officeDocument/2006/relationships" id="257" r:id="Rbe1cc5c20acf4e39"/>
    <p:sldId xmlns:r="http://schemas.openxmlformats.org/officeDocument/2006/relationships" id="258" r:id="Rce15b27b33a94096"/>
    <p:sldId xmlns:r="http://schemas.openxmlformats.org/officeDocument/2006/relationships" id="259" r:id="Rd675fd418f184474"/>
    <p:sldId xmlns:r="http://schemas.openxmlformats.org/officeDocument/2006/relationships" id="260" r:id="Rda2ff96325a54b3c"/>
    <p:sldId xmlns:r="http://schemas.openxmlformats.org/officeDocument/2006/relationships" id="261" r:id="R039a7c80902b4207"/>
    <p:sldId xmlns:r="http://schemas.openxmlformats.org/officeDocument/2006/relationships" id="262" r:id="R84a513d07f2c4f1e"/>
    <p:sldId xmlns:r="http://schemas.openxmlformats.org/officeDocument/2006/relationships" id="263" r:id="Rca1bc0921b884fd6"/>
    <p:sldId xmlns:r="http://schemas.openxmlformats.org/officeDocument/2006/relationships" id="264" r:id="Rffcb1314113944ce"/>
    <p:sldId xmlns:r="http://schemas.openxmlformats.org/officeDocument/2006/relationships" id="265" r:id="R43064e3d9bb844ee"/>
    <p:sldId xmlns:ns0="http://schemas.openxmlformats.org/officeDocument/2006/relationships" id="268" ns0:id="rId18"/>
    <p:sldId xmlns:r="http://schemas.openxmlformats.org/officeDocument/2006/relationships" id="266" r:id="R2d75ab4928f848d9"/>
    <p:sldId xmlns:r="http://schemas.openxmlformats.org/officeDocument/2006/relationships" id="267" r:id="R10b53c6443db427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39a7c80902b4207" Type="http://schemas.openxmlformats.org/officeDocument/2006/relationships/slide" Target="slides/slide6.xml"/><Relationship Id="R10b53c6443db4275" Type="http://schemas.openxmlformats.org/officeDocument/2006/relationships/slide" Target="slides/slide12.xml"/><Relationship Id="R2d75ab4928f848d9" Type="http://schemas.openxmlformats.org/officeDocument/2006/relationships/slide" Target="slides/slide11.xml"/><Relationship Id="R2f33e1f287944aa2" Type="http://schemas.openxmlformats.org/officeDocument/2006/relationships/tableStyles" Target="tableStyles.xml"/><Relationship Id="R43064e3d9bb844ee" Type="http://schemas.openxmlformats.org/officeDocument/2006/relationships/slide" Target="slides/slide10.xml"/><Relationship Id="R5b64c8b692ae4aa6" Type="http://schemas.openxmlformats.org/officeDocument/2006/relationships/slide" Target="slides/slide1.xml"/><Relationship Id="R6748c32d9c31430e" Type="http://schemas.openxmlformats.org/officeDocument/2006/relationships/theme" Target="theme/theme1.xml"/><Relationship Id="R78241e05a0734964" Type="http://schemas.openxmlformats.org/officeDocument/2006/relationships/presProps" Target="presProps.xml"/><Relationship Id="R8334192544374323" Type="http://schemas.openxmlformats.org/officeDocument/2006/relationships/slideMaster" Target="slideMasters/slideMaster1.xml"/><Relationship Id="R84a513d07f2c4f1e" Type="http://schemas.openxmlformats.org/officeDocument/2006/relationships/slide" Target="slides/slide7.xml"/><Relationship Id="R9d4968041f3d4559" Type="http://schemas.openxmlformats.org/officeDocument/2006/relationships/notesMaster" Target="notesMasters/notesMaster1.xml"/><Relationship Id="Rbe1cc5c20acf4e39" Type="http://schemas.openxmlformats.org/officeDocument/2006/relationships/slide" Target="slides/slide2.xml"/><Relationship Id="Rca1bc0921b884fd6" Type="http://schemas.openxmlformats.org/officeDocument/2006/relationships/slide" Target="slides/slide8.xml"/><Relationship Id="Rce15b27b33a94096" Type="http://schemas.openxmlformats.org/officeDocument/2006/relationships/slide" Target="slides/slide3.xml"/><Relationship Id="Rd675fd418f184474" Type="http://schemas.openxmlformats.org/officeDocument/2006/relationships/slide" Target="slides/slide4.xml"/><Relationship Id="Rda2ff96325a54b3c" Type="http://schemas.openxmlformats.org/officeDocument/2006/relationships/slide" Target="slides/slide5.xml"/><Relationship Id="Rffcb1314113944ce" Type="http://schemas.openxmlformats.org/officeDocument/2006/relationships/slide" Target="slides/slide9.xml"/><Relationship Id="rId18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bd8f73f27acb4f61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74af2da042654661" Type="http://schemas.openxmlformats.org/officeDocument/2006/relationships/notesMaster" Target="../notesMasters/notesMaster1.xml"/><Relationship Id="Rd63cb35915ba4d0f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8f9a3d4d184a4bc6" Type="http://schemas.openxmlformats.org/officeDocument/2006/relationships/slide" Target="../slides/slide2.xml"/><Relationship Id="R8fd8f49a568b466a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076ec2503de245b7" Type="http://schemas.openxmlformats.org/officeDocument/2006/relationships/notesMaster" Target="../notesMasters/notesMaster1.xml"/><Relationship Id="Rc8830a1c4d054d26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9767ab8bba9442b5" Type="http://schemas.openxmlformats.org/officeDocument/2006/relationships/notesMaster" Target="../notesMasters/notesMaster1.xml"/><Relationship Id="Rbf0c58eed60c4366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5a6554cb8cf84b31" Type="http://schemas.openxmlformats.org/officeDocument/2006/relationships/notesMaster" Target="../notesMasters/notesMaster1.xml"/><Relationship Id="Re4fbbc4969ab4bf0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20578534f9cb423f" Type="http://schemas.openxmlformats.org/officeDocument/2006/relationships/slide" Target="../slides/slide6.xml"/><Relationship Id="R38409bdf0c824b8d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5ba2bdd2784347a1" Type="http://schemas.openxmlformats.org/officeDocument/2006/relationships/notesMaster" Target="../notesMasters/notesMaster1.xml"/><Relationship Id="R7a4c2b9dd4e84f37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69c4901b733842b8" Type="http://schemas.openxmlformats.org/officeDocument/2006/relationships/slide" Target="../slides/slide8.xml"/><Relationship Id="Rbdd0b587eb44409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77c859485e864bbe" Type="http://schemas.openxmlformats.org/officeDocument/2006/relationships/slide" Target="../slides/slide9.xml"/><Relationship Id="Rdf4741c45ee44e6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61a863ba690a41c7" Type="http://schemas.openxmlformats.org/officeDocument/2006/relationships/notesMaster" Target="../notesMasters/notesMaster1.xml"/><Relationship Id="Ra3e2e9832c0e41ca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469606cdbeea4681" Type="http://schemas.openxmlformats.org/officeDocument/2006/relationships/notesMaster" Target="../notesMasters/notesMaster1.xml"/><Relationship Id="Rc4daaa8da5fb4170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2f31f4f547ce43c7" Type="http://schemas.openxmlformats.org/officeDocument/2006/relationships/slide" Target="../slides/slide12.xml"/><Relationship Id="R372d35841f154130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C:\Users\14536\Desktop\2026香港科技大学百万奖金创业.pdf</a:t>
            </a:r>
          </a:p>
          <a:p xmlns:a="http://schemas.openxmlformats.org/drawingml/2006/main">
            <a:r>
              <a:t>- D:\code\studymate-agent\README.md</a:t>
            </a:r>
          </a:p>
          <a:p xmlns:a="http://schemas.openxmlformats.org/drawingml/2006/main">
            <a:r>
              <a:t>- D:\code\studymate-agent\docs\PRODUCT_INTRO.md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D:\code\studymate-agent\docs\PRD_MVP_v0.1.md</a:t>
            </a:r>
          </a:p>
          <a:p xmlns:a="http://schemas.openxmlformats.org/drawingml/2006/main">
            <a:r>
              <a:t>- D:\code\studymate-agent\docs\PRODUCT_INTRO.md</a:t>
            </a:r>
          </a:p>
          <a:p xmlns:a="http://schemas.openxmlformats.org/drawingml/2006/main">
            <a:r>
              <a:t>- User scenario is a validation hypothesis, not a measured cohort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D:\code\studymate-agent\src\core\event_log.ts</a:t>
            </a:r>
          </a:p>
          <a:p xmlns:a="http://schemas.openxmlformats.org/drawingml/2006/main">
            <a:r>
              <a:t>- D:\code\studymate-agent\src\application\workflows\grade_and_adapt.ts</a:t>
            </a:r>
          </a:p>
          <a:p xmlns:a="http://schemas.openxmlformats.org/drawingml/2006/main">
            <a:r>
              <a:t>- D:\code\studymate-agent\src\agents\spaced_repetition.ts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D:\code\studymate-agent\screenshots\01_dashboard.png</a:t>
            </a:r>
          </a:p>
          <a:p xmlns:a="http://schemas.openxmlformats.org/drawingml/2006/main">
            <a:r>
              <a:t>- D:\code\studymate-agent\src\agents\grader.ts</a:t>
            </a:r>
          </a:p>
          <a:p xmlns:a="http://schemas.openxmlformats.org/drawingml/2006/main">
            <a:r>
              <a:t>- D:\code\studymate-agent\src\application\workflows\grade_and_adapt.ts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D:\code\studymate-agent\README.md</a:t>
            </a:r>
          </a:p>
          <a:p xmlns:a="http://schemas.openxmlformats.org/drawingml/2006/main">
            <a:r>
              <a:t>- D:\code\studymate-agent\docs\PRODUCT_INTRO.md</a:t>
            </a:r>
          </a:p>
          <a:p xmlns:a="http://schemas.openxmlformats.org/drawingml/2006/main">
            <a:r>
              <a:t>- D:\code\studymate-agent\.github\workflows\ci.yml</a:t>
            </a:r>
          </a:p>
          <a:p xmlns:a="http://schemas.openxmlformats.org/drawingml/2006/main">
            <a:r>
              <a:t>- D:\code\studymate-agent\Dockerfile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D:\code\studymate-agent\src\server\app.ts</a:t>
            </a:r>
          </a:p>
          <a:p xmlns:a="http://schemas.openxmlformats.org/drawingml/2006/main">
            <a:r>
              <a:t>- D:\code\studymate-agent\src\core\llm.ts</a:t>
            </a:r>
          </a:p>
          <a:p xmlns:a="http://schemas.openxmlformats.org/drawingml/2006/main">
            <a:r>
              <a:t>- D:\code\studymate-agent\src\core\event_log.ts</a:t>
            </a:r>
          </a:p>
          <a:p xmlns:a="http://schemas.openxmlformats.org/drawingml/2006/main">
            <a:r>
              <a:t>- D:\code\studymate-agent\PRIVACY.md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D:\code\studymate-agent\README.md</a:t>
            </a:r>
          </a:p>
          <a:p xmlns:a="http://schemas.openxmlformats.org/drawingml/2006/main">
            <a:r>
              <a:t>- Category-level comparison based on common product interaction models; no claim that every product in a category has identical features.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https://www.moe.gov.cn/jyb_xwfb/gzdt_gzdt/moe_1485/202511/t20251124_1421370.html</a:t>
            </a:r>
          </a:p>
          <a:p xmlns:a="http://schemas.openxmlformats.org/drawingml/2006/main">
            <a:r>
              <a:t>- https://www.cicpa.org.cn/xxfb/news/202508/t20250827_65611.html</a:t>
            </a:r>
          </a:p>
          <a:p xmlns:a="http://schemas.openxmlformats.org/drawingml/2006/main">
            <a:r>
              <a:t>- 30-person pilot is an internal validation target, not an achieved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D:\code\studymate-agent\docs\PRODUCT_INTRO.md</a:t>
            </a:r>
          </a:p>
          <a:p xmlns:a="http://schemas.openxmlformats.org/drawingml/2006/main">
            <a:r>
              <a:t>- Validation milestones and price are internal hypotheses for the next 12 weeks.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Pricing shown is an internal validation hypothesis; no current revenue or conversion claim is made.</a:t>
            </a:r>
          </a:p>
          <a:p xmlns:a="http://schemas.openxmlformats.org/drawingml/2006/main">
            <a:r>
              <a:t>- D:\code\studymate-agent\docs\PRODUCT_INTRO.md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Team names, education backgrounds, and professional descriptions supplied directly by the team lead on 2026-08-11.</a:t>
            </a:r>
          </a:p>
          <a:p xmlns:a="http://schemas.openxmlformats.org/drawingml/2006/main">
            <a:r>
              <a:t>- Role allocation follows the team discussion and is presented as responsibility ownership.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C:\Users\14536\Desktop\2026香港科技大学百万奖金创业.pdf</a:t>
            </a:r>
          </a:p>
          <a:p xmlns:a="http://schemas.openxmlformats.org/drawingml/2006/main">
            <a:r>
              <a:t>- The three requested resource categories align with the competition handbook's incubation, industry connection, and financing support descriptions.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8aee6a1dea464240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495f8a78a13c4196" Type="http://schemas.openxmlformats.org/officeDocument/2006/relationships/slideLayout" Target="../slideLayouts/slideLayout1.xml"/><Relationship Id="Re4920c89b0cf4769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95f8a78a13c419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4023ab641214424d" Type="http://schemas.openxmlformats.org/officeDocument/2006/relationships/notesSlide" Target="../notesSlides/notesSlide1.xml"/><Relationship Id="R534ff8f453c341a5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a32d538b865046b6" Type="http://schemas.openxmlformats.org/officeDocument/2006/relationships/notesSlide" Target="../notesSlides/notesSlide2.xml"/><Relationship Id="Rfc8e4909536f45c3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4c1c8d20d0614c55" Type="http://schemas.openxmlformats.org/officeDocument/2006/relationships/slideLayout" Target="../slideLayouts/slideLayout1.xml"/><Relationship Id="Rb6c0a9e3796f4d3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06fca47562f6491a" Type="http://schemas.openxmlformats.org/officeDocument/2006/relationships/image" Target="../media/image.png"/><Relationship Id="Rd0363c2ac86d4164" Type="http://schemas.openxmlformats.org/officeDocument/2006/relationships/slideLayout" Target="../slideLayouts/slideLayout1.xml"/><Relationship Id="Rd0ab6ce9009245be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913cc0218eec4365" Type="http://schemas.openxmlformats.org/officeDocument/2006/relationships/slideLayout" Target="../slideLayouts/slideLayout1.xml"/><Relationship Id="Rbac22a68c11046d7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d7011be6866d41f5" Type="http://schemas.openxmlformats.org/officeDocument/2006/relationships/notesSlide" Target="../notesSlides/notesSlide6.xml"/><Relationship Id="Reea5f7dcabe340d7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56a2f1f1edcf470a" Type="http://schemas.openxmlformats.org/officeDocument/2006/relationships/slideLayout" Target="../slideLayouts/slideLayout1.xml"/><Relationship Id="Re77cd758976743c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1c3a780dd7be44a8" Type="http://schemas.openxmlformats.org/officeDocument/2006/relationships/notesSlide" Target="../notesSlides/notesSlide8.xml"/><Relationship Id="R44ed4a0cf93b4b4a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0ab3f2d78ba64960" Type="http://schemas.openxmlformats.org/officeDocument/2006/relationships/slideLayout" Target="../slideLayouts/slideLayout1.xml"/><Relationship Id="R87753d0f65bc4b17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2727e8b55c0540b2" Type="http://schemas.openxmlformats.org/officeDocument/2006/relationships/notesSlide" Target="../notesSlides/notesSlide10.xml"/><Relationship Id="R59cbcb566ded4dad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7b910b9f79694e59" Type="http://schemas.openxmlformats.org/officeDocument/2006/relationships/notesSlide" Target="../notesSlides/notesSlide11.xml"/><Relationship Id="Rac33447a9ea0441f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478d402e21644c43" Type="http://schemas.openxmlformats.org/officeDocument/2006/relationships/notesSlide" Target="../notesSlides/notesSlide12.xml"/><Relationship Id="R568fb880cadd43bc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819684-2DF4-4400-8FF5-EEF2C3B31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6BAF3F-65BC-4124-B9E0-A43AF7144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6573"/>
                </a:solidFill>
              </a:defRPr>
            </a:pPr>
            <a:r>
              <a:rPr sz="1275" b="1">
                <a:solidFill>
                  <a:srgbClr val="5B6573"/>
                </a:solidFill>
              </a:rPr>
              <a:t>2026「星火计划」超级个体（OPC）创业挑战赛 · 软件赛道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C01B4B-8E35-4CD3-BA99-0362919CB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04900"/>
            <a:ext cx="8096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11111"/>
                </a:solidFill>
              </a:defRPr>
            </a:pPr>
            <a:r>
              <a:rPr sz="4800" b="1">
                <a:solidFill>
                  <a:srgbClr val="111111"/>
                </a:solidFill>
              </a:rPr>
              <a:t>StudyMate Agent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E618DB-3CDB-4361-B24D-D67FC4AA4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0025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D8DFF"/>
                </a:solidFill>
              </a:defRPr>
            </a:pPr>
            <a:r>
              <a:rPr sz="2850" b="1">
                <a:solidFill>
                  <a:srgbClr val="3D8DFF"/>
                </a:solidFill>
              </a:rPr>
              <a:t>把一套备考资料，变成每天能执行的学习闭环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9A5A5B-BF5A-4720-B173-4FC92AB79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B6573"/>
                </a:solidFill>
              </a:defRPr>
            </a:pPr>
            <a:r>
              <a:rPr sz="1950" b="0">
                <a:solidFill>
                  <a:srgbClr val="5B6573"/>
                </a:solidFill>
              </a:rPr>
              <a:t>首个验证场景：CPA 自学备考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17B9C7-FCA9-4B3A-AC22-B86C1464E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0045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536BDE-AC90-40EC-945E-94EC756A5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052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资料导入  →  概念结构  →  学习计划  →  每日测验  →  错题回流  →  复习调整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C2B917-6790-44D9-A02B-5BC7D955F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768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团队：不理不器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1321C2-564C-4407-80FF-F278B17E5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768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队长：乔瑞雪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79B423-32F6-40F4-86D9-E64F383A2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2768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阶段：可演示工程 MVP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6F705D-20BF-4E74-B2FE-1AAA5AF91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293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573"/>
                </a:solidFill>
              </a:defRPr>
            </a:pPr>
            <a:r>
              <a:rPr sz="1500" b="0">
                <a:solidFill>
                  <a:srgbClr val="5B6573"/>
                </a:solidFill>
              </a:rPr>
              <a:t>团队成员：乔瑞雪 · 姜亚雷 · 乔瑞琪 · 芈祉嫣 · 陈鸿邦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43F544-DEF6-4F5F-9740-378177C9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573"/>
                </a:solidFill>
              </a:defRPr>
            </a:pPr>
            <a:r>
              <a:rPr sz="1125" b="0">
                <a:solidFill>
                  <a:srgbClr val="5B6573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441553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10EA0F-8EA0-44E3-95CA-0DF159A8E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573"/>
                </a:solidFill>
              </a:defRPr>
            </a:pPr>
            <a:r>
              <a:rPr sz="1200" b="1">
                <a:solidFill>
                  <a:srgbClr val="5B6573"/>
                </a:solidFill>
              </a:rPr>
              <a:t>STUDYMATE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B3CB0D-741E-423E-B242-F813E71C0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</a:defRPr>
            </a:pPr>
            <a:r>
              <a:rPr sz="3600" b="1">
                <a:solidFill>
                  <a:srgbClr val="111111"/>
                </a:solidFill>
              </a:rPr>
              <a:t>备考者缺的不是更多内容，而是把资料变成行动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133459-80D3-41CC-B512-85AF6CFAD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573"/>
                </a:solidFill>
              </a:defRPr>
            </a:pPr>
            <a:r>
              <a:rPr sz="1125" b="0">
                <a:solidFill>
                  <a:srgbClr val="5B6573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D7084E-F693-450B-AE2D-0335AD5E1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103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233BBE-8F1D-4802-86AD-ECF57569F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</a:defRPr>
            </a:pPr>
            <a:r>
              <a:rPr sz="1875" b="1">
                <a:solidFill>
                  <a:srgbClr val="3D8DFF"/>
                </a:solidFill>
              </a:rPr>
              <a:t>首个用户场景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DCFD04-662D-42A3-933E-89F1143D1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CPA 自学备考者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9FDB19-8CB0-4CA0-A819-1F9EEE742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76550"/>
            <a:ext cx="476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573"/>
                </a:solidFill>
              </a:defRPr>
            </a:pPr>
            <a:r>
              <a:rPr sz="1725" b="0">
                <a:solidFill>
                  <a:srgbClr val="5B6573"/>
                </a:solidFill>
              </a:rPr>
              <a:t>已经购买教材和课程，每天可投入 30–90 分钟，需要在明确考试日期前完成复习。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079D1A-31D0-41B1-9EB2-039D31021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57700"/>
            <a:ext cx="4762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6FC"/>
          </a:solidFill>
          <a:ln xmlns:a="http://schemas.openxmlformats.org/drawingml/2006/main" w="0">
            <a:solidFill>
              <a:srgbClr val="E8F6F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635A11-B0AA-484A-82EF-C1F174D1D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验证问题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401866-3794-4A99-BA5B-AB6C423C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4825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StudyMate 能否让用户连续完成“学—测—改—复习”？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1A2D33-EF0C-449B-9D1C-2EECA194C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514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资料无法形成学习顺序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8EA667-AFE8-42E2-AC10-2B66C6A74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90750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573"/>
                </a:solidFill>
              </a:defRPr>
            </a:pPr>
            <a:r>
              <a:rPr sz="1575" b="0">
                <a:solidFill>
                  <a:srgbClr val="5B6573"/>
                </a:solidFill>
              </a:rPr>
              <a:t>教材、讲义和错题分散在不同工具里，用户仍要自己判断先学什么。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D74416-9669-4A2C-82CC-BBC0D7AA2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5275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DF481C-C081-44ED-94BE-BFBD80A32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86125"/>
            <a:ext cx="514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计划与执行脱节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A7ADB1-BCC9-483D-B9B7-1EE936FDC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62375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573"/>
                </a:solidFill>
              </a:defRPr>
            </a:pPr>
            <a:r>
              <a:rPr sz="1575" b="0">
                <a:solidFill>
                  <a:srgbClr val="5B6573"/>
                </a:solidFill>
              </a:rPr>
              <a:t>计划通常只安排章节和日期，不会根据当天测验结果调整。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99E6F5-ED4E-44A1-A8D9-AF8CF0F92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24375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155710-C736-4591-905E-A37471496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57750"/>
            <a:ext cx="514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错题没有改变下一步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4C53C1-5027-4C68-A6E3-C35A5E226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334000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573"/>
                </a:solidFill>
              </a:defRPr>
            </a:pPr>
            <a:r>
              <a:rPr sz="1575" b="0">
                <a:solidFill>
                  <a:srgbClr val="5B6573"/>
                </a:solidFill>
              </a:rPr>
              <a:t>用户记录了错误，却很难把薄弱点转化成下一次复习任务。</a:t>
            </a:r>
          </a:p>
        </p:txBody>
      </p:sp>
    </p:spTree>
    <p:extLst>
      <p:ext uri="{BB962C8B-B14F-4D97-AF65-F5344CB8AC3E}">
        <p14:creationId xmlns:p14="http://schemas.microsoft.com/office/powerpoint/2010/main" val="207451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9F1E83E-E85A-4D65-94BE-C295EC26C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573"/>
                </a:solidFill>
              </a:defRPr>
            </a:pPr>
            <a:r>
              <a:rPr sz="1200" b="1">
                <a:solidFill>
                  <a:srgbClr val="5B6573"/>
                </a:solidFill>
              </a:rPr>
              <a:t>STUDYMATE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2315C3-8C1D-4837-B797-695D235AD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</a:defRPr>
            </a:pPr>
            <a:r>
              <a:rPr sz="3600" b="1">
                <a:solidFill>
                  <a:srgbClr val="111111"/>
                </a:solidFill>
              </a:rPr>
              <a:t>StudyMate 把六个步骤接成一次可追溯闭环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4BD480-1A33-43CE-99E0-88616554E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573"/>
                </a:solidFill>
              </a:defRPr>
            </a:pPr>
            <a:r>
              <a:rPr sz="1125" b="0">
                <a:solidFill>
                  <a:srgbClr val="5B6573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0D01AA-5D12-4516-A166-CC97AAB33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103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5AE699-68CC-4AD3-AA80-631CF0A5D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573"/>
                </a:solidFill>
              </a:defRPr>
            </a:pPr>
            <a:r>
              <a:rPr sz="1725" b="0">
                <a:solidFill>
                  <a:srgbClr val="5B6573"/>
                </a:solidFill>
              </a:rPr>
              <a:t>LLM 负责结构化内容，TypeScript 负责流程、状态和结果落盘。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2BBF0B-3FA1-48D8-8ED6-2B6C38C0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257550"/>
            <a:ext cx="333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F584D4-FB58-4447-964F-1B693CB72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257550"/>
            <a:ext cx="333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CA049B-EC00-40E2-BEB0-5CF6434E1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257550"/>
            <a:ext cx="333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C70679-562B-4ABA-A410-CF4E38773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257550"/>
            <a:ext cx="333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BA799F-ED23-4C9B-806E-293E2A38F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257550"/>
            <a:ext cx="333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7BCB85-6B49-48D2-A5A7-FCB238C95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00300"/>
            <a:ext cx="16002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solidFill>
              <a:srgbClr val="F0F1F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9F3FF4-5BD0-47CC-8836-8DF1A9C4F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908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A65FAA-76B4-4626-9D46-A31708EC9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67050"/>
            <a:ext cx="129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导入资料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A73E85-5EBC-472B-9417-7566F944C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38550"/>
            <a:ext cx="1295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3"/>
                </a:solidFill>
              </a:defRPr>
            </a:pPr>
            <a:r>
              <a:rPr sz="1275" b="0">
                <a:solidFill>
                  <a:srgbClr val="5B6573"/>
                </a:solidFill>
              </a:rPr>
              <a:t>PDF / Markdown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45C4D8-6BC4-46E3-A695-3354C4E64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400300"/>
            <a:ext cx="16002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solidFill>
              <a:srgbClr val="F0F1F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C4BAD9-9F02-4EFC-885C-07F22023F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5908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A2B561-0C2A-42DC-9B38-29D680EEC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067050"/>
            <a:ext cx="129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提取概念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580A19-73CF-424F-9342-2E6FC5AC8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638550"/>
            <a:ext cx="1295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3"/>
                </a:solidFill>
              </a:defRPr>
            </a:pPr>
            <a:r>
              <a:rPr sz="1275" b="0">
                <a:solidFill>
                  <a:srgbClr val="5B6573"/>
                </a:solidFill>
              </a:rPr>
              <a:t>依赖关系与来源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572CE9-6FFF-4195-9C18-C685FE75F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400300"/>
            <a:ext cx="16002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solidFill>
              <a:srgbClr val="F0F1F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107E83-D60D-434A-A3AF-F147E69D3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908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E99209-DB88-4D16-95AB-9C1EF4636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067050"/>
            <a:ext cx="129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生成计划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11126D-AECA-4D2D-8DF7-44A591049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638550"/>
            <a:ext cx="1295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3"/>
                </a:solidFill>
              </a:defRPr>
            </a:pPr>
            <a:r>
              <a:rPr sz="1275" b="0">
                <a:solidFill>
                  <a:srgbClr val="5B6573"/>
                </a:solidFill>
              </a:rPr>
              <a:t>考试日期与时长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AA9064-B166-4B86-B12C-00B1C3340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400300"/>
            <a:ext cx="16002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solidFill>
              <a:srgbClr val="F0F1F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52DAA6-537A-40A2-A28C-E62357598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5908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E4AC36-A280-43BD-B540-7ECC0BBEE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067050"/>
            <a:ext cx="129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学习测验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2174CE-AED4-4A14-9430-D78222359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638550"/>
            <a:ext cx="1295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3"/>
                </a:solidFill>
              </a:defRPr>
            </a:pPr>
            <a:r>
              <a:rPr sz="1275" b="0">
                <a:solidFill>
                  <a:srgbClr val="5B6573"/>
                </a:solidFill>
              </a:rPr>
              <a:t>当天任务与题目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E534CE-0B36-43C6-9459-BC019DF30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00300"/>
            <a:ext cx="16002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solidFill>
              <a:srgbClr val="F0F1F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5D2647-45E3-453E-BD0D-7C1A5BC38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908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088DB4-C5EF-418E-8C89-3C60EF274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67050"/>
            <a:ext cx="129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评分归因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2CA259-3532-4E46-BBB4-09CD8C320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638550"/>
            <a:ext cx="1295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3"/>
                </a:solidFill>
              </a:defRPr>
            </a:pPr>
            <a:r>
              <a:rPr sz="1275" b="0">
                <a:solidFill>
                  <a:srgbClr val="5B6573"/>
                </a:solidFill>
              </a:rPr>
              <a:t>错题与掌握度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0CE6E8-9724-41A3-A8F9-3856E78A9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400300"/>
            <a:ext cx="16002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6FC"/>
          </a:solidFill>
          <a:ln xmlns:a="http://schemas.openxmlformats.org/drawingml/2006/main" w="0">
            <a:solidFill>
              <a:srgbClr val="E8F6F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EB6B334-E5EE-4A2F-9761-ED4360DC9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5908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80F936D-B074-473B-82D5-DBA2151B0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067050"/>
            <a:ext cx="129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调整复习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DE6ACDE-3245-44B5-96FD-B5922BD34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638550"/>
            <a:ext cx="1295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3"/>
                </a:solidFill>
              </a:defRPr>
            </a:pPr>
            <a:r>
              <a:rPr sz="1275" b="0">
                <a:solidFill>
                  <a:srgbClr val="5B6573"/>
                </a:solidFill>
              </a:rPr>
              <a:t>SM-2 与计划回流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6DBAA75-BF44-4EA5-B438-A43041BB2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38700"/>
            <a:ext cx="1126807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3ADC466-4EC7-4D87-AAD8-626E4F3A8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673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每一步都写入本地 workspace 与事件日志，便于回看、调试和复现。</a:t>
            </a:r>
          </a:p>
        </p:txBody>
      </p:sp>
    </p:spTree>
    <p:extLst>
      <p:ext uri="{BB962C8B-B14F-4D97-AF65-F5344CB8AC3E}">
        <p14:creationId xmlns:p14="http://schemas.microsoft.com/office/powerpoint/2010/main" val="7061755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349F4C-14C7-4AD9-974D-988F2C848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573"/>
                </a:solidFill>
              </a:defRPr>
            </a:pPr>
            <a:r>
              <a:rPr sz="1200" b="1">
                <a:solidFill>
                  <a:srgbClr val="5B6573"/>
                </a:solidFill>
              </a:rPr>
              <a:t>STUDYMATE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6A455C-761C-4177-A020-106515022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</a:defRPr>
            </a:pPr>
            <a:r>
              <a:rPr sz="3600" b="1">
                <a:solidFill>
                  <a:srgbClr val="111111"/>
                </a:solidFill>
              </a:rPr>
              <a:t>用户每天只需回答三个问题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27375C-3B08-49B8-A4AE-A41D6B472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573"/>
                </a:solidFill>
              </a:defRPr>
            </a:pPr>
            <a:r>
              <a:rPr sz="1125" b="0">
                <a:solidFill>
                  <a:srgbClr val="5B6573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A697F4-D30A-46DF-B3DD-3CC01D994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103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88D36B-6134-4168-A7EF-340DE62A1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今天学什么？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E97712-832B-4F5D-B895-09EA29091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52650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573"/>
                </a:solidFill>
              </a:defRPr>
            </a:pPr>
            <a:r>
              <a:rPr sz="1575" b="0">
                <a:solidFill>
                  <a:srgbClr val="5B6573"/>
                </a:solidFill>
              </a:rPr>
              <a:t>首页把考试日期、今日任务和预计时长放在同一处。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2E2327-971F-4A43-8A01-A3C9A0656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670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我学会了吗？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388E48-AADD-4A05-80D7-19AE9CD96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43300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573"/>
                </a:solidFill>
              </a:defRPr>
            </a:pPr>
            <a:r>
              <a:rPr sz="1575" b="0">
                <a:solidFill>
                  <a:srgbClr val="5B6573"/>
                </a:solidFill>
              </a:rPr>
              <a:t>学习结束后立即测验，代码按标准答案评分并记录薄弱点。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A53441-FA13-472D-B34E-5F58E2FF0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5770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下一步是什么？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C35209-5163-4288-B178-840C781F7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33950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573"/>
                </a:solidFill>
              </a:defRPr>
            </a:pPr>
            <a:r>
              <a:rPr sz="1575" b="0">
                <a:solidFill>
                  <a:srgbClr val="5B6573"/>
                </a:solidFill>
              </a:rPr>
              <a:t>测验结果更新掌握度与复习状态，再影响后续任务。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fca47562f6491a"/>
          <a:srcRect xmlns:a="http://schemas.openxmlformats.org/drawingml/2006/main" l="0" t="1788" r="0" b="17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76750" y="1571625"/>
            <a:ext cx="7191375" cy="4333875"/>
          </a:xfrm>
          <a:prstGeom xmlns:a="http://schemas.openxmlformats.org/drawingml/2006/main" prst="roundRect">
            <a:avLst>
              <a:gd name="adj" fmla="val 2637"/>
            </a:avLst>
          </a:prstGeom>
        </p:spPr>
      </p:pic>
    </p:spTree>
    <p:extLst>
      <p:ext uri="{BB962C8B-B14F-4D97-AF65-F5344CB8AC3E}">
        <p14:creationId xmlns:p14="http://schemas.microsoft.com/office/powerpoint/2010/main" val="13833121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2BC34D-BD7F-46B5-8D12-0BE3CE2C2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573"/>
                </a:solidFill>
              </a:defRPr>
            </a:pPr>
            <a:r>
              <a:rPr sz="1200" b="1">
                <a:solidFill>
                  <a:srgbClr val="5B6573"/>
                </a:solidFill>
              </a:rPr>
              <a:t>STUDYMATE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34A940-E6BC-4303-90C1-CB2E48126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</a:defRPr>
            </a:pPr>
            <a:r>
              <a:rPr sz="3600" b="1">
                <a:solidFill>
                  <a:srgbClr val="111111"/>
                </a:solidFill>
              </a:rPr>
              <a:t>工程 MVP 已完成；真实学习效果仍待验证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ECB354-F66E-44CD-BE13-3E48AC8B2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573"/>
                </a:solidFill>
              </a:defRPr>
            </a:pPr>
            <a:r>
              <a:rPr sz="1125" b="0">
                <a:solidFill>
                  <a:srgbClr val="5B6573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3B93D0-E143-462A-9977-985B06211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103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7BAECD-DCCB-4AB7-AFDC-57DBB1EAE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5429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solidFill>
              <a:srgbClr val="F0F1F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0650DC-53B4-4431-B173-26A29C192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59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D8DFF"/>
                </a:solidFill>
              </a:defRPr>
            </a:pPr>
            <a:r>
              <a:rPr sz="2175" b="1">
                <a:solidFill>
                  <a:srgbClr val="3D8DFF"/>
                </a:solidFill>
              </a:rPr>
              <a:t>已经实现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5B516B-7082-422B-9CE9-A9DF293D9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95550"/>
            <a:ext cx="4762500" cy="2809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CLI、Web UI 与 REST API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PDF / Markdown 导入与分块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概念图谱、计划、测验与评分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错题回流、EMA 掌握度与 SM-2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学习搭子、本地状态与事件日志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Docker、GitHub Actions 与 E2E 测试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3C64F0-82C6-48C2-83BA-B470D5EEA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19250"/>
            <a:ext cx="547687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C0A3B9-91DB-4137-A6E3-B4DDE9C54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859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</a:defRPr>
            </a:pPr>
            <a:r>
              <a:rPr sz="2175" b="1">
                <a:solidFill>
                  <a:srgbClr val="111111"/>
                </a:solidFill>
              </a:rPr>
              <a:t>下一阶段验证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558AAE-A1E6-4DF7-86B2-DD4D2BBE0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95550"/>
            <a:ext cx="4762500" cy="2809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573"/>
                </a:solidFill>
              </a:defRPr>
            </a:pPr>
            <a:r>
              <a:rPr sz="1650" b="0">
                <a:solidFill>
                  <a:srgbClr val="5B6573"/>
                </a:solidFill>
              </a:rPr>
              <a:t>• 真实 LLM 连续三日金样本</a:t>
            </a:r>
          </a:p>
          <a:p xmlns:a="http://schemas.openxmlformats.org/drawingml/2006/main">
            <a:pPr algn="l">
              <a:defRPr sz="1650" b="0">
                <a:solidFill>
                  <a:srgbClr val="5B6573"/>
                </a:solidFill>
              </a:defRPr>
            </a:pPr>
            <a:r>
              <a:rPr sz="1650" b="0">
                <a:solidFill>
                  <a:srgbClr val="5B6573"/>
                </a:solidFill>
              </a:rPr>
              <a:t>• 题目与解释的内容准确率</a:t>
            </a:r>
          </a:p>
          <a:p xmlns:a="http://schemas.openxmlformats.org/drawingml/2006/main">
            <a:pPr algn="l">
              <a:defRPr sz="1650" b="0">
                <a:solidFill>
                  <a:srgbClr val="5B6573"/>
                </a:solidFill>
              </a:defRPr>
            </a:pPr>
            <a:r>
              <a:rPr sz="1650" b="0">
                <a:solidFill>
                  <a:srgbClr val="5B6573"/>
                </a:solidFill>
              </a:rPr>
              <a:t>• 用户能否连续完成 7 天闭环</a:t>
            </a:r>
          </a:p>
          <a:p xmlns:a="http://schemas.openxmlformats.org/drawingml/2006/main">
            <a:pPr algn="l">
              <a:defRPr sz="1650" b="0">
                <a:solidFill>
                  <a:srgbClr val="5B6573"/>
                </a:solidFill>
              </a:defRPr>
            </a:pPr>
            <a:r>
              <a:rPr sz="1650" b="0">
                <a:solidFill>
                  <a:srgbClr val="5B6573"/>
                </a:solidFill>
              </a:rPr>
              <a:t>• 30 天留存与付费意愿</a:t>
            </a:r>
          </a:p>
          <a:p xmlns:a="http://schemas.openxmlformats.org/drawingml/2006/main">
            <a:pPr algn="l">
              <a:defRPr sz="1650" b="0">
                <a:solidFill>
                  <a:srgbClr val="5B6573"/>
                </a:solidFill>
              </a:defRPr>
            </a:pPr>
            <a:r>
              <a:rPr sz="1650" b="0">
                <a:solidFill>
                  <a:srgbClr val="5B6573"/>
                </a:solidFill>
              </a:rPr>
              <a:t>• 单用户模型成本与获客成本</a:t>
            </a:r>
          </a:p>
          <a:p xmlns:a="http://schemas.openxmlformats.org/drawingml/2006/main">
            <a:pPr algn="l">
              <a:defRPr sz="1650" b="0">
                <a:solidFill>
                  <a:srgbClr val="5B6573"/>
                </a:solidFill>
              </a:defRPr>
            </a:pPr>
            <a:r>
              <a:rPr sz="1650" b="0">
                <a:solidFill>
                  <a:srgbClr val="5B6573"/>
                </a:solidFill>
              </a:rPr>
              <a:t>• 多用户运行所需的安全与运维能力</a:t>
            </a:r>
          </a:p>
        </p:txBody>
      </p:sp>
    </p:spTree>
    <p:extLst>
      <p:ext uri="{BB962C8B-B14F-4D97-AF65-F5344CB8AC3E}">
        <p14:creationId xmlns:p14="http://schemas.microsoft.com/office/powerpoint/2010/main" val="12791309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12158B-9539-4008-8147-DBF58C5B0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573"/>
                </a:solidFill>
              </a:defRPr>
            </a:pPr>
            <a:r>
              <a:rPr sz="1200" b="1">
                <a:solidFill>
                  <a:srgbClr val="5B6573"/>
                </a:solidFill>
              </a:rPr>
              <a:t>STUDYMATE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96E153-4279-4709-B16C-3EF0102D1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</a:defRPr>
            </a:pPr>
            <a:r>
              <a:rPr sz="3600" b="1">
                <a:solidFill>
                  <a:srgbClr val="111111"/>
                </a:solidFill>
              </a:rPr>
              <a:t>技术价值在于可追溯闭环，不在于堆叠 Agent 数量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815F8C-98EC-4CD4-8D48-9E97E72AB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573"/>
                </a:solidFill>
              </a:defRPr>
            </a:pPr>
            <a:r>
              <a:rPr sz="1125" b="0">
                <a:solidFill>
                  <a:srgbClr val="5B6573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241B86-630A-41CB-9668-EA04FF1F6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103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7B532C-0199-4AE2-A61A-74A89AE12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781300"/>
            <a:ext cx="904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1C5342-8B7F-4B19-B5A5-E33216522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781300"/>
            <a:ext cx="904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AFDAFD-929E-434F-BFC0-E1FCF3C9F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81300"/>
            <a:ext cx="904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497D52-5BCE-4A05-9070-82D2B5DF1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63855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B973EB-CBC6-440F-ADDD-0607A225F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19300"/>
            <a:ext cx="18859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solidFill>
              <a:srgbClr val="F0F1F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FD5A20-A5CF-4464-8080-54DB17A11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4790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用户界面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4C82E5-46C1-408B-9CE2-4229ED941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00350"/>
            <a:ext cx="1543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573"/>
                </a:solidFill>
              </a:defRPr>
            </a:pPr>
            <a:r>
              <a:rPr sz="1425" b="0">
                <a:solidFill>
                  <a:srgbClr val="5B6573"/>
                </a:solidFill>
              </a:rPr>
              <a:t>Web / CLI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08E149-AC94-4590-9319-84738A76F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019300"/>
            <a:ext cx="1809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solidFill>
              <a:srgbClr val="F0F1F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F75B39-9AF6-4932-9962-F7EA47064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247900"/>
            <a:ext cx="1466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应用工作流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66DE92-A5A5-4F11-B60A-D37E03AEE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800350"/>
            <a:ext cx="1466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573"/>
                </a:solidFill>
              </a:defRPr>
            </a:pPr>
            <a:r>
              <a:rPr sz="1425" b="0">
                <a:solidFill>
                  <a:srgbClr val="5B6573"/>
                </a:solidFill>
              </a:rPr>
              <a:t>建档、研究、计划、学习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08DEBC-4F82-4815-B1F5-C65B233D3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19300"/>
            <a:ext cx="1809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solidFill>
              <a:srgbClr val="F0F1F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98D822-2A42-43A1-B24D-F0F1DA7E7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247900"/>
            <a:ext cx="1466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领域 Agent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E68017-E0B5-4D4D-861C-008C510C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800350"/>
            <a:ext cx="1466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573"/>
                </a:solidFill>
              </a:defRPr>
            </a:pPr>
            <a:r>
              <a:rPr sz="1425" b="0">
                <a:solidFill>
                  <a:srgbClr val="5B6573"/>
                </a:solidFill>
              </a:rPr>
              <a:t>概念、测验、掌握度、搭子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93C849-C81C-4E72-8F69-5DD6D6474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019300"/>
            <a:ext cx="14287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6FC"/>
          </a:solidFill>
          <a:ln xmlns:a="http://schemas.openxmlformats.org/drawingml/2006/main" w="0">
            <a:solidFill>
              <a:srgbClr val="E8F6F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22F8C0-CCCD-460F-8DE9-2F36324A7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247900"/>
            <a:ext cx="1085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本地状态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6704D8-F237-488C-8819-0F537A1BC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800350"/>
            <a:ext cx="10858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573"/>
                </a:solidFill>
              </a:defRPr>
            </a:pPr>
            <a:r>
              <a:rPr sz="1425" b="0">
                <a:solidFill>
                  <a:srgbClr val="5B6573"/>
                </a:solidFill>
              </a:rPr>
              <a:t>JSON / JSONL</a:t>
            </a:r>
          </a:p>
          <a:p xmlns:a="http://schemas.openxmlformats.org/drawingml/2006/main">
            <a:pPr algn="l">
              <a:defRPr sz="1425" b="0">
                <a:solidFill>
                  <a:srgbClr val="5B6573"/>
                </a:solidFill>
              </a:defRPr>
            </a:pPr>
            <a:r>
              <a:rPr sz="1425" b="0">
                <a:solidFill>
                  <a:srgbClr val="5B6573"/>
                </a:solidFill>
              </a:rPr>
              <a:t>Markdown</a:t>
            </a:r>
          </a:p>
          <a:p xmlns:a="http://schemas.openxmlformats.org/drawingml/2006/main">
            <a:pPr algn="l">
              <a:defRPr sz="1425" b="0">
                <a:solidFill>
                  <a:srgbClr val="5B6573"/>
                </a:solidFill>
              </a:defRPr>
            </a:pPr>
            <a:r>
              <a:rPr sz="1425" b="0">
                <a:solidFill>
                  <a:srgbClr val="5B6573"/>
                </a:solidFill>
              </a:rPr>
              <a:t>事件日志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88649A-6C32-4E01-9B7E-509F0599B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2952750"/>
            <a:ext cx="7810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4BE35A-F8C3-458F-A491-1D0B0DAFF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3305175"/>
            <a:ext cx="609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外部</a:t>
            </a:r>
          </a:p>
          <a:p xmlns:a="http://schemas.openxmlformats.org/drawingml/2006/main">
            <a:pPr algn="ctr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LLM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79C060-D728-486E-9247-F35F589CA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29150"/>
            <a:ext cx="723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573"/>
                </a:solidFill>
              </a:defRPr>
            </a:pPr>
            <a:r>
              <a:rPr sz="1575" b="0">
                <a:solidFill>
                  <a:srgbClr val="5B6573"/>
                </a:solidFill>
              </a:rPr>
              <a:t>配置 API Key 时，仅相关文本片段进入模型请求；未配置时使用 Mock。</a:t>
            </a:r>
          </a:p>
        </p:txBody>
      </p:sp>
    </p:spTree>
    <p:extLst>
      <p:ext uri="{BB962C8B-B14F-4D97-AF65-F5344CB8AC3E}">
        <p14:creationId xmlns:p14="http://schemas.microsoft.com/office/powerpoint/2010/main" val="178996528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1F29169-2D11-45DD-8E30-C316FB94A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573"/>
                </a:solidFill>
              </a:defRPr>
            </a:pPr>
            <a:r>
              <a:rPr sz="1200" b="1">
                <a:solidFill>
                  <a:srgbClr val="5B6573"/>
                </a:solidFill>
              </a:rPr>
              <a:t>STUDYMATE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D49438-FA1B-4893-B83F-629DDAB01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</a:defRPr>
            </a:pPr>
            <a:r>
              <a:rPr sz="3600" b="1">
                <a:solidFill>
                  <a:srgbClr val="111111"/>
                </a:solidFill>
              </a:rPr>
              <a:t>差异化来自资料驱动、计划回流与持续陪伴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2FE635-EC21-4DDF-933F-BA7E73158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573"/>
                </a:solidFill>
              </a:defRPr>
            </a:pPr>
            <a:r>
              <a:rPr sz="1125" b="0">
                <a:solidFill>
                  <a:srgbClr val="5B6573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85F2F7-7A9C-4B31-9508-C4952A708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103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B3FCE1-9252-4339-96C5-01E01107F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2057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8E11F8-41F2-4843-A834-41E9A426E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62125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解决方案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44569A-AF2A-4BA6-8298-4DD9AD15F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619250"/>
            <a:ext cx="2133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E411EF-74AE-4823-AC82-8AB2EBBFF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76212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个人资料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13C161-B9BB-4D89-B73F-AD8DE45D6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619250"/>
            <a:ext cx="2209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8903C3-2FFD-4BDC-A95D-709179B09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762125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复习计划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56038E-6A6F-4751-8EB5-BA7E6F807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619250"/>
            <a:ext cx="2266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82BA43-AAA1-4D1D-9896-7437F7B34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762125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错题回流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A6CC58-D35C-493E-834E-B2753D318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619250"/>
            <a:ext cx="26003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861ADC-C204-42EC-9CB6-500F6EA77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762125"/>
            <a:ext cx="2371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持续陪伴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742740-A1C6-479D-804A-929E60276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71700"/>
            <a:ext cx="20574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652726-0663-4214-98F8-7A3832982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0"/>
            <a:ext cx="1828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通用大模型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7A7208-E242-4BB7-8304-93B526523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171700"/>
            <a:ext cx="21336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0C9CCD-06C0-4ABD-9201-11761CF05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38125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会话内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321EA4-7601-4DCC-A307-808067803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171700"/>
            <a:ext cx="22098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F99D42-8A6F-4B79-BC6C-372DDA3D2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81250"/>
            <a:ext cx="1981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需人工维护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979DD4-0D4E-469A-B158-11A354566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171700"/>
            <a:ext cx="22669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727D7A-48BC-453C-BCB5-08CA97C6A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381250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弱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7A6815-D371-4AAD-9FFD-D32A9715F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71700"/>
            <a:ext cx="26003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CAB19B-FBBB-4ADE-BD0C-96BD56BF5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381250"/>
            <a:ext cx="2371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弱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DC13B4-1E0A-497D-B491-715ACAF4D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90850"/>
            <a:ext cx="20574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60F63D-BFDC-4864-A18E-32C0A9960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00400"/>
            <a:ext cx="1828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闪卡工具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863BBD-0527-458C-A191-C90CA3722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990850"/>
            <a:ext cx="21336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74DF66-91DC-402D-ACDB-20CE2378B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2004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需手工制卡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448CF0-FE9B-415D-8C50-44E92CAF2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990850"/>
            <a:ext cx="22098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76E02D-ECBD-4FAD-9144-01979F86F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200400"/>
            <a:ext cx="1981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间隔复习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9AEA08-2586-4D32-A7B9-90736BCA5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90850"/>
            <a:ext cx="22669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7740D4-8432-48E8-9535-F4D392E78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200400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有限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DB26D93-DE79-421F-8D0F-09D850205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90850"/>
            <a:ext cx="26003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DED7721-C18A-4F0E-8262-C099B3516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200400"/>
            <a:ext cx="2371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无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467DA1D-7E19-416D-ADA0-45D8B74D3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0"/>
            <a:ext cx="20574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BC869D0-BF0C-48F2-BEF4-4A6CDD32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19550"/>
            <a:ext cx="1828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题库 / 课程平台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DED630A-28A3-46DD-B3CE-E0595F22D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810000"/>
            <a:ext cx="21336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EC754F2-D80E-4A86-8B9D-87386D447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01955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以平台内容为主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94CC734-B260-4E15-909D-401C5672F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810000"/>
            <a:ext cx="22098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48E41E2-CD9B-4CA1-8429-2C7EE03E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019550"/>
            <a:ext cx="1981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固定路径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29431C4-89E1-46FF-82CA-2834DF7BA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10000"/>
            <a:ext cx="22669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56DFEB4-8634-4968-9073-4C983E702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019550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记录为主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D72CF4F-F7D0-4BF8-835C-1B1C9EF8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810000"/>
            <a:ext cx="26003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F37041B-24AA-4372-A7CA-1D0102393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019550"/>
            <a:ext cx="2371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有限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74AC46F-CD72-4853-B71A-E40F0B5EE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29150"/>
            <a:ext cx="20574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6F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A973919-E4A8-4C1C-A06D-9AFB8CE48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38700"/>
            <a:ext cx="1828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StudyMate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99ABE40-0409-4223-9EED-32A150740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629150"/>
            <a:ext cx="21336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6F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368468A-F704-48A8-9329-60C1BF397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8387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用户资料驱动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C7A6A7F-45B1-4A60-801B-B15FDFF05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629150"/>
            <a:ext cx="22098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6F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FAA2390-6E57-42FA-B7A4-12AD52972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838700"/>
            <a:ext cx="1981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按考试日期生成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9BFA5B0-8B47-4CE3-A09B-D02932DE4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629150"/>
            <a:ext cx="22669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6F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A8D56FA-7B2B-476E-BF65-956602BF5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838700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更新掌握度与计划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D706C85-2941-4989-AD4D-5E23567E9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629150"/>
            <a:ext cx="26003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6F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D66A0F5-2DFC-42E5-932E-38CC15C81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838700"/>
            <a:ext cx="2371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搭子状态持续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79DBF38-7073-4B32-BF39-78552D579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388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573"/>
                </a:solidFill>
              </a:defRPr>
            </a:pPr>
            <a:r>
              <a:rPr sz="1200" b="0">
                <a:solidFill>
                  <a:srgbClr val="5B6573"/>
                </a:solidFill>
              </a:rPr>
              <a:t>比较采用产品类别，不对单一品牌作绝对功能判断。</a:t>
            </a:r>
          </a:p>
        </p:txBody>
      </p:sp>
    </p:spTree>
    <p:extLst>
      <p:ext uri="{BB962C8B-B14F-4D97-AF65-F5344CB8AC3E}">
        <p14:creationId xmlns:p14="http://schemas.microsoft.com/office/powerpoint/2010/main" val="1205038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F2B17D-FE1E-4F64-86BF-FBF5AAC53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573"/>
                </a:solidFill>
              </a:defRPr>
            </a:pPr>
            <a:r>
              <a:rPr sz="1200" b="1">
                <a:solidFill>
                  <a:srgbClr val="5B6573"/>
                </a:solidFill>
              </a:rPr>
              <a:t>STUDYMATE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7AB26D-847C-4371-90C6-003E54813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</a:defRPr>
            </a:pPr>
            <a:r>
              <a:rPr sz="3600" b="1">
                <a:solidFill>
                  <a:srgbClr val="111111"/>
                </a:solidFill>
              </a:rPr>
              <a:t>首个切口选择 CPA 自学者，市场数字只证明人群存在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7C132A-EB14-4987-8B30-77AD2B78A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573"/>
                </a:solidFill>
              </a:defRPr>
            </a:pPr>
            <a:r>
              <a:rPr sz="1125" b="0">
                <a:solidFill>
                  <a:srgbClr val="5B6573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4160EE-8124-407D-BEE4-8BB66C298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103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C68027-6B42-4F8D-B9C6-A2182D455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573"/>
                </a:solidFill>
              </a:defRPr>
            </a:pPr>
            <a:r>
              <a:rPr sz="1725" b="0">
                <a:solidFill>
                  <a:srgbClr val="5B6573"/>
                </a:solidFill>
              </a:rPr>
              <a:t>当前不承诺首年付费用户规模。先用小样本验证激活、连续使用与付费意愿。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DDB5D8-AFED-4618-AC0D-052D23E27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0"/>
            <a:ext cx="34290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solidFill>
              <a:srgbClr val="F0F1F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B90FB8-06C4-46C8-BCFE-D2F3C9B32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62300"/>
            <a:ext cx="285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3D8DFF"/>
                </a:solidFill>
              </a:defRPr>
            </a:pPr>
            <a:r>
              <a:rPr sz="4050" b="1">
                <a:solidFill>
                  <a:srgbClr val="3D8DFF"/>
                </a:solidFill>
              </a:rPr>
              <a:t>343 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34E1E2-D05C-4B9A-8D67-0E30C42F6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289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2026 研考报名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52BEAA-7FBB-40B3-B0D9-2209302CE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91050"/>
            <a:ext cx="2895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573"/>
                </a:solidFill>
              </a:defRPr>
            </a:pPr>
            <a:r>
              <a:rPr sz="1350" b="0">
                <a:solidFill>
                  <a:srgbClr val="5B6573"/>
                </a:solidFill>
              </a:rPr>
              <a:t>相邻备考人群，教育部公开数据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8DB5E5-E3A3-4910-B916-30897D696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57500"/>
            <a:ext cx="34290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solidFill>
              <a:srgbClr val="F0F1F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C139A5-170D-437F-8FF1-AC76DDB62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162300"/>
            <a:ext cx="285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3D8DFF"/>
                </a:solidFill>
              </a:defRPr>
            </a:pPr>
            <a:r>
              <a:rPr sz="4050" b="1">
                <a:solidFill>
                  <a:srgbClr val="3D8DFF"/>
                </a:solidFill>
              </a:rPr>
              <a:t>80.44 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F8FE81-E656-4400-AAB6-0E5717A3F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095750"/>
            <a:ext cx="289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2025 CPA 报名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7855C9-D508-423B-8B69-D536C4EA1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591050"/>
            <a:ext cx="2895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573"/>
                </a:solidFill>
              </a:defRPr>
            </a:pPr>
            <a:r>
              <a:rPr sz="1350" b="0">
                <a:solidFill>
                  <a:srgbClr val="5B6573"/>
                </a:solidFill>
              </a:rPr>
              <a:t>首个切口的人群基础，中注协公开数据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571256-0DF3-4B24-A37C-F61441ED0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57500"/>
            <a:ext cx="34290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solidFill>
              <a:srgbClr val="F0F1F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7D852C-9E87-4532-8C92-93056BFB5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162300"/>
            <a:ext cx="285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3D8DFF"/>
                </a:solidFill>
              </a:defRPr>
            </a:pPr>
            <a:r>
              <a:rPr sz="4050" b="1">
                <a:solidFill>
                  <a:srgbClr val="3D8DFF"/>
                </a:solidFill>
              </a:rPr>
              <a:t>30 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92AC96-A4C7-42F3-9A4F-4BAB30986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095750"/>
            <a:ext cx="289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第一阶段试点目标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649D11-7A86-4700-9D2B-E7E854B5D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591050"/>
            <a:ext cx="2895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573"/>
                </a:solidFill>
              </a:defRPr>
            </a:pPr>
            <a:r>
              <a:rPr sz="1350" b="0">
                <a:solidFill>
                  <a:srgbClr val="5B6573"/>
                </a:solidFill>
              </a:rPr>
              <a:t>验证目标，不是当前用户成绩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D71A16-A2CA-4125-A85A-213D50637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5310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试点漏斗：触达 → 建档并导入资料 → 完成首次测验 → 连续完成 7 天 → 表达付费意愿</a:t>
            </a:r>
          </a:p>
        </p:txBody>
      </p:sp>
    </p:spTree>
    <p:extLst>
      <p:ext uri="{BB962C8B-B14F-4D97-AF65-F5344CB8AC3E}">
        <p14:creationId xmlns:p14="http://schemas.microsoft.com/office/powerpoint/2010/main" val="152611159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B3C867-8B37-4DB4-AFAE-C3492D647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573"/>
                </a:solidFill>
              </a:defRPr>
            </a:pPr>
            <a:r>
              <a:rPr sz="1200" b="1">
                <a:solidFill>
                  <a:srgbClr val="5B6573"/>
                </a:solidFill>
              </a:rPr>
              <a:t>STUDYMATE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35A610-F19B-4583-B334-D47059B19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</a:defRPr>
            </a:pPr>
            <a:r>
              <a:rPr sz="3600" b="1">
                <a:solidFill>
                  <a:srgbClr val="111111"/>
                </a:solidFill>
              </a:rPr>
              <a:t>未来 12 周只验证三件事：能用、愿意坚持、愿意付费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F8A73B-505D-4041-A2F8-F8F36B5CD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573"/>
                </a:solidFill>
              </a:defRPr>
            </a:pPr>
            <a:r>
              <a:rPr sz="1125" b="0">
                <a:solidFill>
                  <a:srgbClr val="5B6573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98BCE0-0638-4754-B310-E085858B4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103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7D7A10-755C-47D1-8799-121623F95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38550"/>
            <a:ext cx="990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887FD0-9509-4828-8492-6A6BCC94F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623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66159E-F61B-4C25-A6D1-5877CA607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104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W1–4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6DB955-F133-4ABF-B86C-99F242CC6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257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</a:defRPr>
            </a:pPr>
            <a:r>
              <a:rPr sz="2175" b="1">
                <a:solidFill>
                  <a:srgbClr val="111111"/>
                </a:solidFill>
              </a:rPr>
              <a:t>内容质量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4D3902-88A4-4E4D-9A39-E7922C9C1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573"/>
                </a:solidFill>
              </a:defRPr>
            </a:pPr>
            <a:r>
              <a:rPr sz="1500" b="0">
                <a:solidFill>
                  <a:srgbClr val="5B6573"/>
                </a:solidFill>
              </a:rPr>
              <a:t>真实 LLM 三日金样本</a:t>
            </a:r>
          </a:p>
          <a:p xmlns:a="http://schemas.openxmlformats.org/drawingml/2006/main">
            <a:pPr algn="l">
              <a:defRPr sz="1500" b="0">
                <a:solidFill>
                  <a:srgbClr val="5B6573"/>
                </a:solidFill>
              </a:defRPr>
            </a:pPr>
            <a:r>
              <a:rPr sz="1500" b="0">
                <a:solidFill>
                  <a:srgbClr val="5B6573"/>
                </a:solidFill>
              </a:rPr>
              <a:t>建立题目错误分类</a:t>
            </a:r>
          </a:p>
          <a:p xmlns:a="http://schemas.openxmlformats.org/drawingml/2006/main">
            <a:pPr algn="l">
              <a:defRPr sz="1500" b="0">
                <a:solidFill>
                  <a:srgbClr val="5B6573"/>
                </a:solidFill>
              </a:defRPr>
            </a:pPr>
            <a:r>
              <a:rPr sz="1500" b="0">
                <a:solidFill>
                  <a:srgbClr val="5B6573"/>
                </a:solidFill>
              </a:rPr>
              <a:t>招募首批 CPA 用户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DC64F0-1231-4E23-9709-0F94825C0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623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36652E-72ED-4DBA-8956-157D052C4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00250"/>
            <a:ext cx="104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W5–8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89B7B1-FFC3-49BE-A14D-D6C9B278D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76500"/>
            <a:ext cx="257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</a:defRPr>
            </a:pPr>
            <a:r>
              <a:rPr sz="2175" b="1">
                <a:solidFill>
                  <a:srgbClr val="111111"/>
                </a:solidFill>
              </a:rPr>
              <a:t>连续使用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357C18-C126-4843-8D53-A41BA92D1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95750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573"/>
                </a:solidFill>
              </a:defRPr>
            </a:pPr>
            <a:r>
              <a:rPr sz="1500" b="0">
                <a:solidFill>
                  <a:srgbClr val="5B6573"/>
                </a:solidFill>
              </a:rPr>
              <a:t>观察首次闭环完成率</a:t>
            </a:r>
          </a:p>
          <a:p xmlns:a="http://schemas.openxmlformats.org/drawingml/2006/main">
            <a:pPr algn="l">
              <a:defRPr sz="1500" b="0">
                <a:solidFill>
                  <a:srgbClr val="5B6573"/>
                </a:solidFill>
              </a:defRPr>
            </a:pPr>
            <a:r>
              <a:rPr sz="1500" b="0">
                <a:solidFill>
                  <a:srgbClr val="5B6573"/>
                </a:solidFill>
              </a:rPr>
              <a:t>验证 7 天使用路径</a:t>
            </a:r>
          </a:p>
          <a:p xmlns:a="http://schemas.openxmlformats.org/drawingml/2006/main">
            <a:pPr algn="l">
              <a:defRPr sz="1500" b="0">
                <a:solidFill>
                  <a:srgbClr val="5B6573"/>
                </a:solidFill>
              </a:defRPr>
            </a:pPr>
            <a:r>
              <a:rPr sz="1500" b="0">
                <a:solidFill>
                  <a:srgbClr val="5B6573"/>
                </a:solidFill>
              </a:rPr>
              <a:t>修复阻断性问题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2C4C54-65A0-42DD-B651-82666F96C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5623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441671-5A94-43ED-B3E7-5141C7CE2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0250"/>
            <a:ext cx="104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W9–12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3508BC-1B37-427E-8485-6C022B383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76500"/>
            <a:ext cx="257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</a:defRPr>
            </a:pPr>
            <a:r>
              <a:rPr sz="2175" b="1">
                <a:solidFill>
                  <a:srgbClr val="111111"/>
                </a:solidFill>
              </a:rPr>
              <a:t>付费验证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182BDB-29D5-43D5-AF94-0B0500D53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95750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573"/>
                </a:solidFill>
              </a:defRPr>
            </a:pPr>
            <a:r>
              <a:rPr sz="1500" b="0">
                <a:solidFill>
                  <a:srgbClr val="5B6573"/>
                </a:solidFill>
              </a:rPr>
              <a:t>测试 39 元订阅假设</a:t>
            </a:r>
          </a:p>
          <a:p xmlns:a="http://schemas.openxmlformats.org/drawingml/2006/main">
            <a:pPr algn="l">
              <a:defRPr sz="1500" b="0">
                <a:solidFill>
                  <a:srgbClr val="5B6573"/>
                </a:solidFill>
              </a:defRPr>
            </a:pPr>
            <a:r>
              <a:rPr sz="1500" b="0">
                <a:solidFill>
                  <a:srgbClr val="5B6573"/>
                </a:solidFill>
              </a:rPr>
              <a:t>记录模型与服务成本</a:t>
            </a:r>
          </a:p>
          <a:p xmlns:a="http://schemas.openxmlformats.org/drawingml/2006/main">
            <a:pPr algn="l">
              <a:defRPr sz="1500" b="0">
                <a:solidFill>
                  <a:srgbClr val="5B6573"/>
                </a:solidFill>
              </a:defRPr>
            </a:pPr>
            <a:r>
              <a:rPr sz="1500" b="0">
                <a:solidFill>
                  <a:srgbClr val="5B6573"/>
                </a:solidFill>
              </a:rPr>
              <a:t>形成下一轮产品取舍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66157B-8821-4477-AE59-9F3376546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573"/>
                </a:solidFill>
              </a:defRPr>
            </a:pPr>
            <a:r>
              <a:rPr sz="1350" b="0">
                <a:solidFill>
                  <a:srgbClr val="5B6573"/>
                </a:solidFill>
              </a:rPr>
              <a:t>所有数字均为下一阶段验收目标，首轮结果将决定是否继续扩大场景。</a:t>
            </a:r>
          </a:p>
        </p:txBody>
      </p:sp>
    </p:spTree>
    <p:extLst>
      <p:ext uri="{BB962C8B-B14F-4D97-AF65-F5344CB8AC3E}">
        <p14:creationId xmlns:p14="http://schemas.microsoft.com/office/powerpoint/2010/main" val="13296471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4F28A6-9B52-4F47-ADC4-5A726501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573"/>
                </a:solidFill>
              </a:defRPr>
            </a:pPr>
            <a:r>
              <a:rPr sz="1200" b="1">
                <a:solidFill>
                  <a:srgbClr val="5B6573"/>
                </a:solidFill>
              </a:rPr>
              <a:t>STUDYMATE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CA0A45-75E2-4838-8EF6-681FC2428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</a:defRPr>
            </a:pPr>
            <a:r>
              <a:rPr sz="3600" b="1">
                <a:solidFill>
                  <a:srgbClr val="111111"/>
                </a:solidFill>
              </a:rPr>
              <a:t>定价先作为实验，不作为收入承诺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84B267-D1D6-40AE-90BA-DEB98C9D2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573"/>
                </a:solidFill>
              </a:defRPr>
            </a:pPr>
            <a:r>
              <a:rPr sz="1125" b="0">
                <a:solidFill>
                  <a:srgbClr val="5B6573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542646-7335-457E-8974-83997B960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103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6A5CA0-36B1-40E5-876C-D4DA28B0F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35242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solidFill>
              <a:srgbClr val="F0F1F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234778-EC62-4DBB-8018-EF0583B64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免费试用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746FD2-7367-43D1-8A26-25C834594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D8DFF"/>
                </a:solidFill>
              </a:defRPr>
            </a:pPr>
            <a:r>
              <a:rPr sz="3150" b="1">
                <a:solidFill>
                  <a:srgbClr val="3D8DFF"/>
                </a:solidFill>
              </a:rPr>
              <a:t>¥0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2D7E21-DA9B-49EA-BF63-94048AF16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43300"/>
            <a:ext cx="304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1 个考试项目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限量测验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体验完整学习闭环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2676DB-0126-4872-96D9-61602258A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57750"/>
            <a:ext cx="302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83136C-7197-4A6B-8968-5F5B463DE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67300"/>
            <a:ext cx="302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3"/>
                </a:solidFill>
              </a:defRPr>
            </a:pPr>
            <a:r>
              <a:rPr sz="1275" b="0">
                <a:solidFill>
                  <a:srgbClr val="5B6573"/>
                </a:solidFill>
              </a:rPr>
              <a:t>目标：降低首次使用门槛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B7407F-B546-4495-904F-4F6FA59F3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38300"/>
            <a:ext cx="35242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6FC"/>
          </a:solidFill>
          <a:ln xmlns:a="http://schemas.openxmlformats.org/drawingml/2006/main" w="0">
            <a:solidFill>
              <a:srgbClr val="E8F6F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7DADC1-0F1C-418F-83AB-099DB8366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95262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个人版假设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8C7B61-B66E-4CDD-8C6C-655A8391E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619375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D8DFF"/>
                </a:solidFill>
              </a:defRPr>
            </a:pPr>
            <a:r>
              <a:rPr sz="3150" b="1">
                <a:solidFill>
                  <a:srgbClr val="3D8DFF"/>
                </a:solidFill>
              </a:rPr>
              <a:t>¥39 / 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45AE28-32F2-4A2C-A49B-85DD603C5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543300"/>
            <a:ext cx="304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完整计划与复习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测验、错题与成长记录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全部学习搭子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AA4DC0-E9DA-4C67-92F0-A14377792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857750"/>
            <a:ext cx="302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B4260C-737C-4441-9843-354AB8F6A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067300"/>
            <a:ext cx="302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3"/>
                </a:solidFill>
              </a:defRPr>
            </a:pPr>
            <a:r>
              <a:rPr sz="1275" b="0">
                <a:solidFill>
                  <a:srgbClr val="5B6573"/>
                </a:solidFill>
              </a:rPr>
              <a:t>目标：验证重度备考者付费意愿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DC4D1D-ADE4-4358-9B22-F7A1DB973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38300"/>
            <a:ext cx="35242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solidFill>
              <a:srgbClr val="F0F1F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2D141A-6745-4DC9-8BC6-8948B11B8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95262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机构合作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327600-BE3C-40CE-BA5C-F290A20A3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19375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D8DFF"/>
                </a:solidFill>
              </a:defRPr>
            </a:pPr>
            <a:r>
              <a:rPr sz="3150" b="1">
                <a:solidFill>
                  <a:srgbClr val="3D8DFF"/>
                </a:solidFill>
              </a:rPr>
              <a:t>试点后报价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6D9000-CD8E-4CC9-A520-D059C4D9C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543300"/>
            <a:ext cx="304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课程资料接入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班级试点与数据导出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部署方式另行评估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BF6EEA-EF34-4FD4-9CA1-F5CD7D718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857750"/>
            <a:ext cx="302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1CA5E6-1EC7-4645-A864-D4043ABE7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067300"/>
            <a:ext cx="302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3"/>
                </a:solidFill>
              </a:defRPr>
            </a:pPr>
            <a:r>
              <a:rPr sz="1275" b="0">
                <a:solidFill>
                  <a:srgbClr val="5B6573"/>
                </a:solidFill>
              </a:rPr>
              <a:t>前提：先证明 C 端连续使用</a:t>
            </a:r>
          </a:p>
        </p:txBody>
      </p:sp>
    </p:spTree>
    <p:extLst>
      <p:ext uri="{BB962C8B-B14F-4D97-AF65-F5344CB8AC3E}">
        <p14:creationId xmlns:p14="http://schemas.microsoft.com/office/powerpoint/2010/main" val="70024536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7E21ED-24B0-4A85-9A88-B0E432C19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573"/>
                </a:solidFill>
              </a:defRPr>
            </a:pPr>
            <a:r>
              <a:rPr sz="1200" b="1">
                <a:solidFill>
                  <a:srgbClr val="5B6573"/>
                </a:solidFill>
              </a:rPr>
              <a:t>团队 · 不理不器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28B1AF-E935-4657-83ED-E731FC35E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</a:defRPr>
            </a:pPr>
            <a:r>
              <a:rPr sz="3600" b="1">
                <a:solidFill>
                  <a:srgbClr val="111111"/>
                </a:solidFill>
              </a:rPr>
              <a:t>五个人覆盖产品、Agent、工程交付与商业验证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F1558D-A0EE-4412-8C9B-582A56D50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573"/>
                </a:solidFill>
              </a:defRPr>
            </a:pPr>
            <a:r>
              <a:rPr sz="1125" b="0">
                <a:solidFill>
                  <a:srgbClr val="5B6573"/>
                </a:solidFill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962B2B-5B42-426E-831A-5BF2457A2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103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B6772A-1D73-42F2-AF6E-995F8D9EE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390525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363A45-6BE9-4D0D-8C22-695D08C54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乔瑞雪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8B4CB1-D13D-4BB7-B2B2-1971B42EC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6DCBF4"/>
                </a:solidFill>
              </a:defRPr>
            </a:pPr>
            <a:r>
              <a:rPr sz="1725" b="1">
                <a:solidFill>
                  <a:srgbClr val="6DCBF4"/>
                </a:solidFill>
              </a:rPr>
              <a:t>队长｜产品与系统负责人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264C98-19B3-4E8B-B1C9-ED8258ADB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兰州大学经济学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独立开发者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54CA99-0867-4315-A675-B8FD6E0A4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3095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负责产品方向、系统架构、核心开发、Demo 与团队协调。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1DC4AC-40EB-4797-B2DF-E76B1FD8C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19250"/>
            <a:ext cx="3238500" cy="185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solidFill>
              <a:srgbClr val="F0F1F3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849010-798C-4F45-BF69-930005A23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82880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姜亚雷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6C574C-24CE-4E2E-BC4D-629049908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2860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后端与工程质量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608160-60AB-4A38-8608-76E4AA433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3"/>
                </a:solidFill>
              </a:defRPr>
            </a:pPr>
            <a:r>
              <a:rPr sz="1275" b="0">
                <a:solidFill>
                  <a:srgbClr val="5B6573"/>
                </a:solidFill>
              </a:rPr>
              <a:t>资深 Java 工程师</a:t>
            </a:r>
          </a:p>
          <a:p xmlns:a="http://schemas.openxmlformats.org/drawingml/2006/main">
            <a:pPr algn="l">
              <a:defRPr sz="1275" b="0">
                <a:solidFill>
                  <a:srgbClr val="5B6573"/>
                </a:solidFill>
              </a:defRPr>
            </a:pPr>
            <a:r>
              <a:rPr sz="1275" b="0">
                <a:solidFill>
                  <a:srgbClr val="5B6573"/>
                </a:solidFill>
              </a:rPr>
              <a:t>负责 API 稳定性、安全边界与工程评审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D02EFE-2B39-4292-BEF3-07A136726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619250"/>
            <a:ext cx="3238500" cy="185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6FC"/>
          </a:solidFill>
          <a:ln xmlns:a="http://schemas.openxmlformats.org/drawingml/2006/main" w="0">
            <a:solidFill>
              <a:srgbClr val="E8F6F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8A203F-38D8-4103-9415-87B8A42F2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82880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乔瑞琪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C50E0E-3A5E-43CB-BDFF-F07599529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2860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Agent 与学习闭环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A51E22-5CDF-46DA-82A3-FDD13F910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724150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3"/>
                </a:solidFill>
              </a:defRPr>
            </a:pPr>
            <a:r>
              <a:rPr sz="1275" b="0">
                <a:solidFill>
                  <a:srgbClr val="5B6573"/>
                </a:solidFill>
              </a:rPr>
              <a:t>哈尔滨工业大学工业工程</a:t>
            </a:r>
          </a:p>
          <a:p xmlns:a="http://schemas.openxmlformats.org/drawingml/2006/main">
            <a:pPr algn="l">
              <a:defRPr sz="1275" b="0">
                <a:solidFill>
                  <a:srgbClr val="5B6573"/>
                </a:solidFill>
              </a:defRPr>
            </a:pPr>
            <a:r>
              <a:rPr sz="1275" b="0">
                <a:solidFill>
                  <a:srgbClr val="5B6573"/>
                </a:solidFill>
              </a:rPr>
              <a:t>后端 Agent 工程师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85D90B-DDDF-48D1-A579-AF9DFC2F5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62375"/>
            <a:ext cx="3238500" cy="185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solidFill>
              <a:srgbClr val="F0F1F3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2A77EB-7CDA-4E61-B99E-D879C733C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971925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芈祉嫣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7AD826-BE9F-4B89-92EE-DAAD988A1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429125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用户验证与商业化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D1FE36-1D00-4780-ADAF-F8EC3DFAE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67275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3"/>
                </a:solidFill>
              </a:defRPr>
            </a:pPr>
            <a:r>
              <a:rPr sz="1275" b="0">
                <a:solidFill>
                  <a:srgbClr val="5B6573"/>
                </a:solidFill>
              </a:rPr>
              <a:t>江南大学金融学</a:t>
            </a:r>
          </a:p>
          <a:p xmlns:a="http://schemas.openxmlformats.org/drawingml/2006/main">
            <a:pPr algn="l">
              <a:defRPr sz="1275" b="0">
                <a:solidFill>
                  <a:srgbClr val="5B6573"/>
                </a:solidFill>
              </a:defRPr>
            </a:pPr>
            <a:r>
              <a:rPr sz="1275" b="0">
                <a:solidFill>
                  <a:srgbClr val="5B6573"/>
                </a:solidFill>
              </a:rPr>
              <a:t>产品经理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37A0A9-CD2B-4995-A642-A1F420167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762375"/>
            <a:ext cx="3238500" cy="185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solidFill>
              <a:srgbClr val="F0F1F3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D713AE-5A7C-4F00-861E-B66EC2F63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971925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陈鸿邦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2B32BD-4E5F-4D25-A152-E77E450F5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429125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全栈交付与测试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CBA337-06B2-4F3E-9213-036986443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867275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3"/>
                </a:solidFill>
              </a:defRPr>
            </a:pPr>
            <a:r>
              <a:rPr sz="1275" b="0">
                <a:solidFill>
                  <a:srgbClr val="5B6573"/>
                </a:solidFill>
              </a:rPr>
              <a:t>湖南理工大学计算机科学与技术</a:t>
            </a:r>
          </a:p>
          <a:p xmlns:a="http://schemas.openxmlformats.org/drawingml/2006/main">
            <a:pPr algn="l">
              <a:defRPr sz="1275" b="0">
                <a:solidFill>
                  <a:srgbClr val="5B6573"/>
                </a:solidFill>
              </a:defRPr>
            </a:pPr>
            <a:r>
              <a:rPr sz="1275" b="0">
                <a:solidFill>
                  <a:srgbClr val="5B6573"/>
                </a:solidFill>
              </a:rPr>
              <a:t>独立开发者</a:t>
            </a:r>
          </a:p>
        </p:txBody>
      </p:sp>
    </p:spTree>
    <p:extLst>
      <p:ext uri="{BB962C8B-B14F-4D97-AF65-F5344CB8AC3E}">
        <p14:creationId xmlns:p14="http://schemas.microsoft.com/office/powerpoint/2010/main" val="16241916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1028B1-AF60-4A57-AFA0-776EE5F74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6573"/>
                </a:solidFill>
              </a:defRPr>
            </a:pPr>
            <a:r>
              <a:rPr sz="1350" b="1">
                <a:solidFill>
                  <a:srgbClr val="5B6573"/>
                </a:solidFill>
              </a:rPr>
              <a:t>不理不器 · StudyMate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38CB4F-CE98-48A9-BE55-348742959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0001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11111"/>
                </a:solidFill>
              </a:defRPr>
            </a:pPr>
            <a:r>
              <a:rPr sz="4200" b="1">
                <a:solidFill>
                  <a:srgbClr val="111111"/>
                </a:solidFill>
              </a:rPr>
              <a:t>用 12 周，把可演示 MVP</a:t>
            </a:r>
          </a:p>
          <a:p xmlns:a="http://schemas.openxmlformats.org/drawingml/2006/main">
            <a:pPr algn="l">
              <a:defRPr sz="4200" b="1">
                <a:solidFill>
                  <a:srgbClr val="111111"/>
                </a:solidFill>
              </a:defRPr>
            </a:pPr>
            <a:r>
              <a:rPr sz="4200" b="1">
                <a:solidFill>
                  <a:srgbClr val="111111"/>
                </a:solidFill>
              </a:rPr>
              <a:t>推进成被真实用户连续使用的产品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38EC01-8BC1-45FF-BCF6-387480440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385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D8DFF"/>
                </a:solidFill>
              </a:defRPr>
            </a:pPr>
            <a:r>
              <a:rPr sz="1950" b="1">
                <a:solidFill>
                  <a:srgbClr val="3D8DFF"/>
                </a:solidFill>
              </a:rPr>
              <a:t>本轮参赛希望获得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2847B5-D978-4C7E-B9B3-1D05555BE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33875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01  七天集训与导师打磨，完成产品化冲刺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98AE91-A4CE-43D4-9065-221DE207E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333875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02  投资人闭门对接与融资连接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9DFDBE-012A-4D88-853B-C58ED5671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333875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03  松江 OPC 落地扶持与产业资源对接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6DACFA-5584-4115-BEEB-2C3AAB050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0"/>
            <a:ext cx="11239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E856A0-86A4-45C1-8E69-C30CE7D65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769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573"/>
                </a:solidFill>
              </a:defRPr>
            </a:pPr>
            <a:r>
              <a:rPr sz="1575" b="0">
                <a:solidFill>
                  <a:srgbClr val="5B6573"/>
                </a:solidFill>
              </a:rPr>
              <a:t>队长：乔瑞雪   ｜   团队：不理不器   ｜   软件赛道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DB7B19-B0C7-49B7-ABBA-E9A2627B6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68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573"/>
                </a:solidFill>
              </a:defRPr>
            </a:pPr>
            <a:r>
              <a:rPr sz="1125" b="0">
                <a:solidFill>
                  <a:srgbClr val="5B6573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548546296"/>
      </p:ext>
    </p:extLst>
  </p:cSld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265176"/>
            <a:ext cx="4005072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B6573"/>
                </a:solidFill>
              </a:rPr>
              <a:t>STUDYMATE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649224"/>
            <a:ext cx="11237976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11111"/>
                </a:solidFill>
              </a:rPr>
              <a:t>「个人 + AI 员工」：OPC 理念的产品化样本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1481328"/>
            <a:ext cx="112379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B6573"/>
                </a:solidFill>
              </a:rPr>
              <a:t>星火燎原，单人成军 —— StudyMate 让每位备考者拥有一支全天候在岗的 AI 教研团队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2336" y="1965960"/>
            <a:ext cx="5394960" cy="3429000"/>
          </a:xfrm>
          <a:prstGeom prst="roundRect">
            <a:avLst>
              <a:gd name="adj" fmla="val 3500"/>
            </a:avLst>
          </a:prstGeom>
          <a:solidFill>
            <a:srgbClr val="F0F1F3"/>
          </a:solidFill>
          <a:ln>
            <a:solidFill>
              <a:srgbClr val="F0F1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" y="2240280"/>
            <a:ext cx="4846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25" b="1">
                <a:solidFill>
                  <a:srgbClr val="111111"/>
                </a:solidFill>
              </a:rPr>
              <a:t>传统备考服务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2880360"/>
            <a:ext cx="4864608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111111"/>
                </a:solidFill>
              </a:rPr>
              <a:t>教研、出题、批改、督学由多角色人力承担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11111"/>
                </a:solidFill>
              </a:rPr>
              <a:t>按班级统一节奏推进，难以一人一档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11111"/>
                </a:solidFill>
              </a:rPr>
              <a:t>服务成本随人数线性上升，价格居高不下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25896" y="1965960"/>
            <a:ext cx="5394960" cy="3429000"/>
          </a:xfrm>
          <a:prstGeom prst="roundRect">
            <a:avLst>
              <a:gd name="adj" fmla="val 3500"/>
            </a:avLst>
          </a:prstGeom>
          <a:solidFill>
            <a:srgbClr val="F0F1F3"/>
          </a:solidFill>
          <a:ln>
            <a:solidFill>
              <a:srgbClr val="F0F1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216" y="2240280"/>
            <a:ext cx="4846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25" b="1">
                <a:solidFill>
                  <a:srgbClr val="111111"/>
                </a:solidFill>
              </a:rPr>
              <a:t>StudyMate 的 AI 员工团队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0216" y="2880360"/>
            <a:ext cx="4864608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111111"/>
                </a:solidFill>
              </a:rPr>
              <a:t>6 个领域 Agent 在岗：规划、出题、批改、归因、调度、陪伴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11111"/>
                </a:solidFill>
              </a:rPr>
              <a:t>资料与掌握度驱动，一人一档、一题一归因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11111"/>
                </a:solidFill>
              </a:rPr>
              <a:t>新增用户边际成本 ≈ 模型调用费，趋近于零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" y="5650992"/>
            <a:ext cx="112379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75" b="0">
                <a:solidFill>
                  <a:srgbClr val="5B6573"/>
                </a:solidFill>
              </a:rPr>
              <a:t>生产侧同样如此：本项目从代码、测试到本计划书，均由「人 + AI 员工」协作流水线产出。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2336" y="6208776"/>
            <a:ext cx="11393424" cy="10972"/>
          </a:xfrm>
          <a:prstGeom prst="rect">
            <a:avLst/>
          </a:prstGeom>
          <a:solidFill>
            <a:srgbClr val="E2E4E8"/>
          </a:solidFill>
          <a:ln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237976" y="6382512"/>
            <a:ext cx="5303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5" b="0">
                <a:solidFill>
                  <a:srgbClr val="5B6573"/>
                </a:solidFill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2026-08-11T15:59:30.9530000Z</dcterms:created>
  <dcterms:modified xsi:type="dcterms:W3CDTF">2026-08-11T15:59:30.9530000Z</dcterms:modified>
</coreProperties>
</file>